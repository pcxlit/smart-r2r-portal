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15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2.png" ContentType="image/png"/>
  <Override PartName="/ppt/media/image9.png" ContentType="image/png"/>
  <Override PartName="/ppt/media/image11.png" ContentType="image/png"/>
  <Override PartName="/ppt/media/image3.png" ContentType="image/png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A45C6499-7F4A-474A-ABBC-3A48459D2C76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Introduce Smart R2R Guide &amp; Reparability Portal: a platform built around the right-to-repair movement. Explain right-to-repair in one line, then say what the platform does - connects owners, shops, and manufacturers - and its sustainability angle. Aim for under 1 minute here.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C517A8-6A2B-45A5-BD0D-2C2397CE7EB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 drivers: e-waste is growing faster than recycling (cite the 62 million tonne / 22% stat), right-to-repair laws are gaining ground (India, EU, US states), repair pricing is opaque for consumers, and repair shops themselves are still working off paper and phone calls. Keep to about a minute.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57748E-392B-4EA3-99D8-FC33205CC5A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Walk through the four breakdowns quickly, then land on the boxed core problem statement on the right - read it as your one-sentence thesis before moving to the solution slide. About a minute.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27B053-6F1A-4EA8-B122-5185B2A327D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Map each feature back to a problem from the last slide: tracking solves the visibility gap, the Reparability Profile solves discovery by scoring how repairable a device actually is, the docs hub solves parts/manual access, and RAG closes the loop by letting users ask a repair question directly and get a cited answer from the manual. Close with the platform's overall goal. About a minute, leaving time for questions.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F68B3-1492-4131-8FD8-C09A8478F8C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home/claude/repairflow/icons/tools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686800" y="2468880"/>
            <a:ext cx="329148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9" strike="noStrike" u="none">
                <a:solidFill>
                  <a:srgbClr val="e8871e"/>
                </a:solidFill>
                <a:uFillTx/>
                <a:latin typeface="Calibri"/>
                <a:ea typeface="Calibri"/>
              </a:rPr>
              <a:t>PROJECT INTRODUCTION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40080" y="86868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Smart R2R Guide &amp; Reparability Portal</a:t>
            </a:r>
            <a:endParaRPr b="0" lang="en-US" sz="5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40080" y="178308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9fd9c7"/>
                </a:solidFill>
                <a:uFillTx/>
                <a:latin typeface="Calibri"/>
                <a:ea typeface="Calibri"/>
              </a:rPr>
              <a:t>Right-to-Repair &amp; Device Repair Management Platform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640080" y="2788920"/>
            <a:ext cx="511560" cy="51156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" name="Image 1" descr="/home/claude/repairflow/icons/unlock.png"/>
          <p:cNvPicPr/>
          <p:nvPr/>
        </p:nvPicPr>
        <p:blipFill>
          <a:blip r:embed="rId2"/>
          <a:stretch/>
        </p:blipFill>
        <p:spPr>
          <a:xfrm>
            <a:off x="773280" y="292212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4"/>
          <p:cNvSpPr/>
          <p:nvPr/>
        </p:nvSpPr>
        <p:spPr>
          <a:xfrm>
            <a:off x="1417320" y="27615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 Digital Movement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417320" y="309996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Right-to-repair advocates for consumers' and repair shops' ability to fix devices, with open access to parts, tools, and manuals.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40080" y="3977640"/>
            <a:ext cx="511560" cy="51156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" name="Image 2" descr="/home/claude/repairflow/icons/handshake.png"/>
          <p:cNvPicPr/>
          <p:nvPr/>
        </p:nvPicPr>
        <p:blipFill>
          <a:blip r:embed="rId3"/>
          <a:stretch/>
        </p:blipFill>
        <p:spPr>
          <a:xfrm>
            <a:off x="773280" y="411084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1417320" y="3950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 Unified Platform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417320" y="42886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Smart R2R Guide &amp; Reparability Portal brings device owners, independent repair shops, and manufacturers together in one place.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640080" y="5166360"/>
            <a:ext cx="511560" cy="51156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" name="Image 3" descr="/home/claude/repairflow/icons/recycle.png"/>
          <p:cNvPicPr/>
          <p:nvPr/>
        </p:nvPicPr>
        <p:blipFill>
          <a:blip r:embed="rId4"/>
          <a:stretch/>
        </p:blipFill>
        <p:spPr>
          <a:xfrm>
            <a:off x="773280" y="529956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10"/>
          <p:cNvSpPr/>
          <p:nvPr/>
        </p:nvSpPr>
        <p:spPr>
          <a:xfrm>
            <a:off x="1417320" y="51390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 Sustainability Driver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1417320" y="547740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By making repair easier and more transparent, Smart R2R Guide &amp; Reparability Portal helps keep devices in use for longer.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9" strike="noStrike" u="none">
                <a:solidFill>
                  <a:srgbClr val="e8871e"/>
                </a:solidFill>
                <a:uFillTx/>
                <a:latin typeface="Calibri"/>
                <a:ea typeface="Calibri"/>
              </a:rPr>
              <a:t>WHY THIS MATTERS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640080" y="7772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1c2b26"/>
                </a:solidFill>
                <a:uFillTx/>
                <a:latin typeface="Cambria"/>
                <a:ea typeface="Cambria"/>
              </a:rPr>
              <a:t>Motivation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640080" y="1417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748179"/>
                </a:solidFill>
                <a:uFillTx/>
                <a:latin typeface="Calibri"/>
                <a:ea typeface="Calibri"/>
              </a:rPr>
              <a:t>The forces pushing repair from an afterthought to a necessity.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640080" y="214884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914400" y="242316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9" name="Image 0" descr="/home/claude/repairflow/icons/trash.png"/>
          <p:cNvPicPr/>
          <p:nvPr/>
        </p:nvPicPr>
        <p:blipFill>
          <a:blip r:embed="rId1"/>
          <a:stretch/>
        </p:blipFill>
        <p:spPr>
          <a:xfrm>
            <a:off x="1033200" y="25419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5"/>
          <p:cNvSpPr/>
          <p:nvPr/>
        </p:nvSpPr>
        <p:spPr>
          <a:xfrm>
            <a:off x="1554480" y="24231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Rising E-Waste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914400" y="29901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The world generated 62 million tonnes of e-waste in 2022, and only 22% of it was properly collected and recycled (UN Global E-waste Monitor).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217920" y="214884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6492240" y="242316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" name="Image 1" descr="/home/claude/repairflow/icons/gavel.png"/>
          <p:cNvPicPr/>
          <p:nvPr/>
        </p:nvPicPr>
        <p:blipFill>
          <a:blip r:embed="rId2"/>
          <a:stretch/>
        </p:blipFill>
        <p:spPr>
          <a:xfrm>
            <a:off x="6611040" y="25419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9"/>
          <p:cNvSpPr/>
          <p:nvPr/>
        </p:nvSpPr>
        <p:spPr>
          <a:xfrm>
            <a:off x="7132320" y="24231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Right-to-Repair Momentum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6492240" y="29901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India's Right to Repair Portal, the EU's repair directive, and new laws in several US states are pushing manufacturers toward repairable design.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640080" y="434340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914400" y="461772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9" name="Image 2" descr="/home/claude/repairflow/icons/money.png"/>
          <p:cNvPicPr/>
          <p:nvPr/>
        </p:nvPicPr>
        <p:blipFill>
          <a:blip r:embed="rId3"/>
          <a:stretch/>
        </p:blipFill>
        <p:spPr>
          <a:xfrm>
            <a:off x="1033200" y="4736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3"/>
          <p:cNvSpPr/>
          <p:nvPr/>
        </p:nvSpPr>
        <p:spPr>
          <a:xfrm>
            <a:off x="1554480" y="4617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High, Opaque Repair Costs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914400" y="518472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Consumers often face expensive repairs with no easy way to compare shops or verify whether a quoted price is fair.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6217920" y="434340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f5f5f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6492240" y="461772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4" name="Image 3" descr="/home/claude/repairflow/icons/store.png"/>
          <p:cNvPicPr/>
          <p:nvPr/>
        </p:nvPicPr>
        <p:blipFill>
          <a:blip r:embed="rId4"/>
          <a:stretch/>
        </p:blipFill>
        <p:spPr>
          <a:xfrm>
            <a:off x="6611040" y="4736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17"/>
          <p:cNvSpPr/>
          <p:nvPr/>
        </p:nvSpPr>
        <p:spPr>
          <a:xfrm>
            <a:off x="7132320" y="4617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A Fragmented Ecosystem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6492240" y="518472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Independent repair shops still rely on paper logs and phone calls instead of digital tools for jobs, parts, and customers.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9" strike="noStrike" u="none">
                <a:solidFill>
                  <a:srgbClr val="e8871e"/>
                </a:solidFill>
                <a:uFillTx/>
                <a:latin typeface="Calibri"/>
                <a:ea typeface="Calibri"/>
              </a:rPr>
              <a:t>THE CHALLENGE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7772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1c2b26"/>
                </a:solidFill>
                <a:uFillTx/>
                <a:latin typeface="Cambria"/>
                <a:ea typeface="Cambria"/>
              </a:rPr>
              <a:t>Problem Statement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417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748179"/>
                </a:solidFill>
                <a:uFillTx/>
                <a:latin typeface="Calibri"/>
                <a:ea typeface="Calibri"/>
              </a:rPr>
              <a:t>What breaks down today, for both sides of a repair.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40080" y="214884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1" name="Image 0" descr="/home/claude/repairflow/icons/search.png"/>
          <p:cNvPicPr/>
          <p:nvPr/>
        </p:nvPicPr>
        <p:blipFill>
          <a:blip r:embed="rId1"/>
          <a:stretch/>
        </p:blipFill>
        <p:spPr>
          <a:xfrm>
            <a:off x="758880" y="22676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4"/>
          <p:cNvSpPr/>
          <p:nvPr/>
        </p:nvSpPr>
        <p:spPr>
          <a:xfrm>
            <a:off x="1325880" y="211212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No Centralized Discovery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325880" y="240480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Consumers can't easily find verified repair shops or compare quotes in one place.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640080" y="306324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5" name="Image 1" descr="/home/claude/repairflow/icons/clipboardlist.png"/>
          <p:cNvPicPr/>
          <p:nvPr/>
        </p:nvPicPr>
        <p:blipFill>
          <a:blip r:embed="rId2"/>
          <a:stretch/>
        </p:blipFill>
        <p:spPr>
          <a:xfrm>
            <a:off x="758880" y="31820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7"/>
          <p:cNvSpPr/>
          <p:nvPr/>
        </p:nvSpPr>
        <p:spPr>
          <a:xfrm>
            <a:off x="1325880" y="302652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No Repair Visibility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1325880" y="331920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Once a device is dropped off, there is no way to track status, cost, or timeline.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640080" y="397764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9" name="Image 2" descr="/home/claude/repairflow/icons/book.png"/>
          <p:cNvPicPr/>
          <p:nvPr/>
        </p:nvPicPr>
        <p:blipFill>
          <a:blip r:embed="rId3"/>
          <a:stretch/>
        </p:blipFill>
        <p:spPr>
          <a:xfrm>
            <a:off x="758880" y="40964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0"/>
          <p:cNvSpPr/>
          <p:nvPr/>
        </p:nvSpPr>
        <p:spPr>
          <a:xfrm>
            <a:off x="1325880" y="394092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Limited Parts &amp; Manuals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1325880" y="423360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Repair shops struggle to source genuine parts and official repair documentation.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640080" y="489204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3" name="Image 3" descr="/home/claude/repairflow/icons/leaf.png"/>
          <p:cNvPicPr/>
          <p:nvPr/>
        </p:nvPicPr>
        <p:blipFill>
          <a:blip r:embed="rId4"/>
          <a:stretch/>
        </p:blipFill>
        <p:spPr>
          <a:xfrm>
            <a:off x="758880" y="50108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13"/>
          <p:cNvSpPr/>
          <p:nvPr/>
        </p:nvSpPr>
        <p:spPr>
          <a:xfrm>
            <a:off x="1325880" y="485532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c2b26"/>
                </a:solidFill>
                <a:uFillTx/>
                <a:latin typeface="Calibri"/>
                <a:ea typeface="Calibri"/>
              </a:rPr>
              <a:t>Repair Loses to Replacement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1325880" y="514800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4a5650"/>
                </a:solidFill>
                <a:uFillTx/>
                <a:latin typeface="Calibri"/>
                <a:ea typeface="Calibri"/>
              </a:rPr>
              <a:t>Slow, expensive repairs push users toward buying new devices, adding to e-waste.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7452360" y="2148840"/>
            <a:ext cx="4068720" cy="3931560"/>
          </a:xfrm>
          <a:prstGeom prst="roundRect">
            <a:avLst>
              <a:gd name="adj" fmla="val 2326"/>
            </a:avLst>
          </a:prstGeom>
          <a:solidFill>
            <a:srgbClr val="1c2b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7818120" y="251460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871e"/>
                </a:solidFill>
                <a:uFillTx/>
                <a:latin typeface="Calibri"/>
                <a:ea typeface="Calibri"/>
              </a:rPr>
              <a:t>CORE PROBLEM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7818120" y="3017520"/>
            <a:ext cx="33372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Device owners and repair shops lack a single, transparent platform to manage repairs, access parts and documentation, and make repair the easier choice.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/home/claude/repairflow/icons/tools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686800" y="2468880"/>
            <a:ext cx="329148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9" strike="noStrike" u="none">
                <a:solidFill>
                  <a:srgbClr val="e8871e"/>
                </a:solidFill>
                <a:uFillTx/>
                <a:latin typeface="Calibri"/>
                <a:ea typeface="Calibri"/>
              </a:rPr>
              <a:t>THE SOLUTION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640080" y="7772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Proposed Solution</a:t>
            </a:r>
            <a:endParaRPr b="0" lang="en-US" sz="3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640080" y="1417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9fd9c7"/>
                </a:solidFill>
                <a:uFillTx/>
                <a:latin typeface="Calibri"/>
                <a:ea typeface="Calibri"/>
              </a:rPr>
              <a:t>How Smart R2R Guide &amp; Reparability Portal closes the gap.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640080" y="214884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914400" y="242316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5" name="Image 1" descr="/home/claude/repairflow/icons/clipboardcheck.png"/>
          <p:cNvPicPr/>
          <p:nvPr/>
        </p:nvPicPr>
        <p:blipFill>
          <a:blip r:embed="rId2"/>
          <a:stretch/>
        </p:blipFill>
        <p:spPr>
          <a:xfrm>
            <a:off x="1033200" y="25419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5"/>
          <p:cNvSpPr/>
          <p:nvPr/>
        </p:nvSpPr>
        <p:spPr>
          <a:xfrm>
            <a:off x="1554480" y="24231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Repair Request &amp; Tracking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914400" y="29901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Submit a repair request and track its status in real time, from drop-off to completion.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6217920" y="214884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6492240" y="242316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0" name="Image 2" descr="/home/claude/repairflow/icons/mapmarker.png"/>
          <p:cNvPicPr/>
          <p:nvPr/>
        </p:nvPicPr>
        <p:blipFill>
          <a:blip r:embed="rId3"/>
          <a:stretch/>
        </p:blipFill>
        <p:spPr>
          <a:xfrm>
            <a:off x="6611040" y="25419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9"/>
          <p:cNvSpPr/>
          <p:nvPr/>
        </p:nvSpPr>
        <p:spPr>
          <a:xfrm>
            <a:off x="7132320" y="24231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Reparability Profile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6492240" y="29901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See a device's reparability score — parts availability, documentation, and repair difficulty — at a glance.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640080" y="434340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914400" y="461772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5" name="Image 3" descr="/home/claude/repairflow/icons/book.png"/>
          <p:cNvPicPr/>
          <p:nvPr/>
        </p:nvPicPr>
        <p:blipFill>
          <a:blip r:embed="rId4"/>
          <a:stretch/>
        </p:blipFill>
        <p:spPr>
          <a:xfrm>
            <a:off x="1033200" y="4736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13"/>
          <p:cNvSpPr/>
          <p:nvPr/>
        </p:nvSpPr>
        <p:spPr>
          <a:xfrm>
            <a:off x="1554480" y="4617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Parts &amp; Documentation Hub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914400" y="518472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Centralized access to repair guides, manuals, and genuine spare-part sourcing.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6217920" y="4343400"/>
            <a:ext cx="5257440" cy="1874160"/>
          </a:xfrm>
          <a:prstGeom prst="roundRect">
            <a:avLst>
              <a:gd name="adj" fmla="val 4390"/>
            </a:avLst>
          </a:prstGeom>
          <a:solidFill>
            <a:srgbClr val="283b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6492240" y="4617720"/>
            <a:ext cx="456840" cy="456840"/>
          </a:xfrm>
          <a:prstGeom prst="ellipse">
            <a:avLst/>
          </a:prstGeom>
          <a:solidFill>
            <a:srgbClr val="e8871e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0" name="Image 4" descr="/home/claude/repairflow/icons/chartline.png"/>
          <p:cNvPicPr/>
          <p:nvPr/>
        </p:nvPicPr>
        <p:blipFill>
          <a:blip r:embed="rId5"/>
          <a:stretch/>
        </p:blipFill>
        <p:spPr>
          <a:xfrm>
            <a:off x="6611040" y="4736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17"/>
          <p:cNvSpPr/>
          <p:nvPr/>
        </p:nvSpPr>
        <p:spPr>
          <a:xfrm>
            <a:off x="7132320" y="4617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RAG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6492240" y="518472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6d1"/>
                </a:solidFill>
                <a:uFillTx/>
                <a:latin typeface="Calibri"/>
                <a:ea typeface="Calibri"/>
              </a:rPr>
              <a:t>Ask a specific repair question and get an answer sourced from the manual — powered by retrieval-augmented generation.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2026-08-09T18:09:31Z</dcterms:created>
  <dc:creator>PptxGenJS</dc:creator>
  <dc:description/>
  <dc:language>en-US</dc:language>
  <cp:lastModifiedBy>PptxGenJS</cp:lastModifiedBy>
  <dcterms:modified xsi:type="dcterms:W3CDTF">2026-08-09T18:09:31Z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